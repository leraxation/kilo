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164592" cy="2011680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Outstation Redundancy Program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DD7EE"/>
                </a:solidFill>
              </a:rPr>
              <a:t>Execution &amp; Legal Alignment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D966"/>
                </a:solidFill>
              </a:rPr>
              <a:t>May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2 — Objective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Outstation Redundancy Program  |  Confidential  | 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3035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Execute the outstation redundancy program across multiple jurisdictions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E75B6"/>
                </a:solidFill>
              </a:rPr>
              <a:t>Ensure: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Full legal compliance by country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Controlled and confidential execution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Minimal operational disruption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868680"/>
            <a:ext cx="5943600" cy="5303520"/>
          </a:xfrm>
          <a:prstGeom prst="rect">
            <a:avLst/>
          </a:prstGeom>
          <a:solidFill>
            <a:srgbClr val="1F3864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0058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66"/>
                </a:solidFill>
              </a:rPr>
              <a:t>Scope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5303520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6002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50 Employees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2103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D7EE"/>
                </a:solidFill>
              </a:rPr>
              <a:t>across multiple regions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65176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Multi-jurisdiction program requiring coordinated legal and HR execution across all affected countries.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3 — Project Timeline (Corrected Reality View)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Outstation Redundancy Program  |  Confidential  | 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240280" cy="51206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1120140" y="1051560"/>
            <a:ext cx="548640" cy="548640"/>
          </a:xfrm>
          <a:prstGeom prst="ellipse">
            <a:avLst/>
          </a:prstGeom>
          <a:solidFill>
            <a:srgbClr val="FFD966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966"/>
                </a:solidFill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Legal Engagement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2057400" cy="411480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8346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Oct 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383280"/>
            <a:ext cx="2057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Dentons formally engaged. Employee data, contracts &amp; cases shared.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True project initiation (legal start).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24328" y="914400"/>
            <a:ext cx="2240280" cy="5120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0148" y="1051560"/>
            <a:ext cx="548640" cy="548640"/>
          </a:xfrm>
          <a:prstGeom prst="ellipse">
            <a:avLst/>
          </a:prstGeom>
          <a:solidFill>
            <a:srgbClr val="FFD96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0148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24328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966"/>
                </a:solidFill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15768" y="20574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Legal Structuring &amp; Review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15768" y="2834640"/>
            <a:ext cx="2057400" cy="411480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2715768" y="28346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Oct 2025 → Apr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15768" y="3383280"/>
            <a:ext cx="2057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Multi-country legal assessment.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Separation structuring &amp; risk evaluation.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74336" y="914400"/>
            <a:ext cx="2240280" cy="51206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4" name="Shape 22"/>
          <p:cNvSpPr/>
          <p:nvPr/>
        </p:nvSpPr>
        <p:spPr>
          <a:xfrm>
            <a:off x="5820156" y="1051560"/>
            <a:ext cx="548640" cy="548640"/>
          </a:xfrm>
          <a:prstGeom prst="ellipse">
            <a:avLst/>
          </a:prstGeom>
          <a:solidFill>
            <a:srgbClr val="FFD966"/>
          </a:solidFill>
          <a:ln/>
        </p:spPr>
      </p:sp>
      <p:sp>
        <p:nvSpPr>
          <p:cNvPr id="25" name="Text 23"/>
          <p:cNvSpPr/>
          <p:nvPr/>
        </p:nvSpPr>
        <p:spPr>
          <a:xfrm>
            <a:off x="5820156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74336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966"/>
                </a:solidFill>
              </a:rPr>
              <a:t>Phase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65776" y="20574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Formal Project Plan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65776" y="2834640"/>
            <a:ext cx="2057400" cy="411480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29" name="Text 27"/>
          <p:cNvSpPr/>
          <p:nvPr/>
        </p:nvSpPr>
        <p:spPr>
          <a:xfrm>
            <a:off x="5065776" y="28346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Apr → 20 Apr 2026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65776" y="3383280"/>
            <a:ext cx="2057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Internal "Legal Review" phase.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24344" y="914400"/>
            <a:ext cx="2240280" cy="512064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2" name="Shape 30"/>
          <p:cNvSpPr/>
          <p:nvPr/>
        </p:nvSpPr>
        <p:spPr>
          <a:xfrm>
            <a:off x="8170164" y="1051560"/>
            <a:ext cx="548640" cy="548640"/>
          </a:xfrm>
          <a:prstGeom prst="ellipse">
            <a:avLst/>
          </a:prstGeom>
          <a:solidFill>
            <a:srgbClr val="FFD966"/>
          </a:solidFill>
          <a:ln/>
        </p:spPr>
      </p:sp>
      <p:sp>
        <p:nvSpPr>
          <p:cNvPr id="33" name="Text 31"/>
          <p:cNvSpPr/>
          <p:nvPr/>
        </p:nvSpPr>
        <p:spPr>
          <a:xfrm>
            <a:off x="8170164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24344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966"/>
                </a:solidFill>
              </a:rPr>
              <a:t>Phase 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15784" y="20574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Governance / Approval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415784" y="2834640"/>
            <a:ext cx="2057400" cy="411480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37" name="Text 35"/>
          <p:cNvSpPr/>
          <p:nvPr/>
        </p:nvSpPr>
        <p:spPr>
          <a:xfrm>
            <a:off x="7415784" y="28346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21 Apr → 6 May 2026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15784" y="3383280"/>
            <a:ext cx="2057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EXCOM approval window.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74352" y="914400"/>
            <a:ext cx="2240280" cy="512064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20172" y="1051560"/>
            <a:ext cx="548640" cy="548640"/>
          </a:xfrm>
          <a:prstGeom prst="ellipse">
            <a:avLst/>
          </a:prstGeom>
          <a:solidFill>
            <a:srgbClr val="FFD966"/>
          </a:solidFill>
          <a:ln/>
        </p:spPr>
      </p:sp>
      <p:sp>
        <p:nvSpPr>
          <p:cNvPr id="41" name="Text 39"/>
          <p:cNvSpPr/>
          <p:nvPr/>
        </p:nvSpPr>
        <p:spPr>
          <a:xfrm>
            <a:off x="10520172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674352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966"/>
                </a:solidFill>
              </a:rPr>
              <a:t>Phase 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765792" y="20574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Execution (Planned)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765792" y="2834640"/>
            <a:ext cx="2057400" cy="411480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45" name="Text 43"/>
          <p:cNvSpPr/>
          <p:nvPr/>
        </p:nvSpPr>
        <p:spPr>
          <a:xfrm>
            <a:off x="9765792" y="28346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Starting 7 May 2026 onward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765792" y="3383280"/>
            <a:ext cx="2057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Full execution begins upon legal clearance + EXCOM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4 — Key Milestone Gap (Critical)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Outstation Redundancy Program  |  Confidential  | 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11612880" cy="1188720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Key Observation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Legal engagement started:  </a:t>
            </a:r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Oct 2025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        Legal review planned completion:  </a:t>
            </a:r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20 Apr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5486400" cy="2377440"/>
          </a:xfrm>
          <a:prstGeom prst="rect">
            <a:avLst/>
          </a:prstGeom>
          <a:solidFill>
            <a:srgbClr val="FFF2CC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86000"/>
            <a:ext cx="5486400" cy="384048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860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Gap Identified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No formal documented communication confirming: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Legal review completion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"Clearance to proceed"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5669280" cy="2377440"/>
          </a:xfrm>
          <a:prstGeom prst="rect">
            <a:avLst/>
          </a:prstGeom>
          <a:solidFill>
            <a:srgbClr val="DEEAF1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286000"/>
            <a:ext cx="5669280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2860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📌  Implication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Execution depends on: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Final legal confirmation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Alignment on compliance readiness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937760"/>
            <a:ext cx="11612880" cy="6400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37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Formal "Clearance to Proceed" confirmation is REQUIRED before execution commences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5 — What "Proceed" Means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Outstation Redundancy Program  |  Confidential  |  May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Executive approval is required to: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11612880" cy="594360"/>
          </a:xfrm>
          <a:prstGeom prst="rect">
            <a:avLst/>
          </a:prstGeom>
          <a:solidFill>
            <a:srgbClr val="BDD7EE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✦  Proceed with termination of identified employees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11612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116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✦  Approve separation approach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11612880" cy="594360"/>
          </a:xfrm>
          <a:prstGeom prst="rect">
            <a:avLst/>
          </a:prstGeom>
          <a:solidFill>
            <a:srgbClr val="BDD7EE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974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✦  Approve compensation schemes (legal-backed)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11247120" cy="2606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661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966"/>
                </a:solidFill>
              </a:rPr>
              <a:t>"Proceed" means: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069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 Legal Clearance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40690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60720" y="4069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 EXCOM Approval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49834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D966"/>
                </a:solidFill>
              </a:rPr>
              <a:t>→  Full Execution Begins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6 — Execution Plan (Next Phases)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Outstation Redundancy Program  |  Confidential  | 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240280" cy="51206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1138428" y="1024128"/>
            <a:ext cx="512064" cy="512064"/>
          </a:xfrm>
          <a:prstGeom prst="ellipse">
            <a:avLst/>
          </a:prstGeom>
          <a:solidFill>
            <a:srgbClr val="FFD966"/>
          </a:solidFill>
          <a:ln/>
        </p:spPr>
      </p:sp>
      <p:sp>
        <p:nvSpPr>
          <p:cNvPr id="9" name="Text 7"/>
          <p:cNvSpPr/>
          <p:nvPr/>
        </p:nvSpPr>
        <p:spPr>
          <a:xfrm>
            <a:off x="1138428" y="1024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600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966"/>
                </a:solidFill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Legal Formalities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(Country Level)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2057400" cy="384048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8346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 May → 30 May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33756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Local legal coordination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Regulatory notifications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Draft termination letters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24328" y="914400"/>
            <a:ext cx="2240280" cy="51206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Shape 14"/>
          <p:cNvSpPr/>
          <p:nvPr/>
        </p:nvSpPr>
        <p:spPr>
          <a:xfrm>
            <a:off x="3488436" y="1024128"/>
            <a:ext cx="512064" cy="512064"/>
          </a:xfrm>
          <a:prstGeom prst="ellipse">
            <a:avLst/>
          </a:prstGeom>
          <a:solidFill>
            <a:srgbClr val="FFD966"/>
          </a:solidFill>
          <a:ln/>
        </p:spPr>
      </p:sp>
      <p:sp>
        <p:nvSpPr>
          <p:cNvPr id="17" name="Text 15"/>
          <p:cNvSpPr/>
          <p:nvPr/>
        </p:nvSpPr>
        <p:spPr>
          <a:xfrm>
            <a:off x="3488436" y="1024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24328" y="1600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966"/>
                </a:solidFill>
              </a:rPr>
              <a:t>Phase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15768" y="19202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Employee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Notification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15768" y="2834640"/>
            <a:ext cx="2057400" cy="384048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2715768" y="28346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 Jun → 14 Jun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15768" y="333756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Issue formal notifications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Conduct 1:1 meetings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Provide support resources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74336" y="914400"/>
            <a:ext cx="2240280" cy="51206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4" name="Shape 22"/>
          <p:cNvSpPr/>
          <p:nvPr/>
        </p:nvSpPr>
        <p:spPr>
          <a:xfrm>
            <a:off x="5838444" y="1024128"/>
            <a:ext cx="512064" cy="512064"/>
          </a:xfrm>
          <a:prstGeom prst="ellipse">
            <a:avLst/>
          </a:prstGeom>
          <a:solidFill>
            <a:srgbClr val="FFD966"/>
          </a:solidFill>
          <a:ln/>
        </p:spPr>
      </p:sp>
      <p:sp>
        <p:nvSpPr>
          <p:cNvPr id="25" name="Text 23"/>
          <p:cNvSpPr/>
          <p:nvPr/>
        </p:nvSpPr>
        <p:spPr>
          <a:xfrm>
            <a:off x="5838444" y="1024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74336" y="1600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966"/>
                </a:solidFill>
              </a:rPr>
              <a:t>Phase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65776" y="19202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Offboarding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65776" y="2834640"/>
            <a:ext cx="2057400" cy="384048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29" name="Text 27"/>
          <p:cNvSpPr/>
          <p:nvPr/>
        </p:nvSpPr>
        <p:spPr>
          <a:xfrm>
            <a:off x="5065776" y="28346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 Jun → 28 Jun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65776" y="333756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Knowledge transfer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Equipment 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Access revocation preparation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24344" y="914400"/>
            <a:ext cx="2240280" cy="512064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2" name="Shape 30"/>
          <p:cNvSpPr/>
          <p:nvPr/>
        </p:nvSpPr>
        <p:spPr>
          <a:xfrm>
            <a:off x="8188452" y="1024128"/>
            <a:ext cx="512064" cy="512064"/>
          </a:xfrm>
          <a:prstGeom prst="ellipse">
            <a:avLst/>
          </a:prstGeom>
          <a:solidFill>
            <a:srgbClr val="FFD966"/>
          </a:solidFill>
          <a:ln/>
        </p:spPr>
      </p:sp>
      <p:sp>
        <p:nvSpPr>
          <p:cNvPr id="33" name="Text 31"/>
          <p:cNvSpPr/>
          <p:nvPr/>
        </p:nvSpPr>
        <p:spPr>
          <a:xfrm>
            <a:off x="8188452" y="1024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24344" y="1600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966"/>
                </a:solidFill>
              </a:rPr>
              <a:t>Phase 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15784" y="19202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Settlement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15784" y="2834640"/>
            <a:ext cx="2057400" cy="384048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37" name="Text 35"/>
          <p:cNvSpPr/>
          <p:nvPr/>
        </p:nvSpPr>
        <p:spPr>
          <a:xfrm>
            <a:off x="7415784" y="28346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 Jul → 14 Jul 2026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15784" y="333756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Process final payments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Issue settlement agreements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Legal sign-off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674352" y="914400"/>
            <a:ext cx="2240280" cy="512064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38460" y="1024128"/>
            <a:ext cx="512064" cy="512064"/>
          </a:xfrm>
          <a:prstGeom prst="ellipse">
            <a:avLst/>
          </a:prstGeom>
          <a:solidFill>
            <a:srgbClr val="FFD966"/>
          </a:solidFill>
          <a:ln/>
        </p:spPr>
      </p:sp>
      <p:sp>
        <p:nvSpPr>
          <p:cNvPr id="41" name="Text 39"/>
          <p:cNvSpPr/>
          <p:nvPr/>
        </p:nvSpPr>
        <p:spPr>
          <a:xfrm>
            <a:off x="10538460" y="1024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74352" y="1600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966"/>
                </a:solidFill>
              </a:rPr>
              <a:t>Phase 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765792" y="19202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 Closure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765792" y="2834640"/>
            <a:ext cx="2057400" cy="384048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45" name="Text 43"/>
          <p:cNvSpPr/>
          <p:nvPr/>
        </p:nvSpPr>
        <p:spPr>
          <a:xfrm>
            <a:off x="9765792" y="28346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 Jul → 14 Jul 2026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765792" y="333756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Revoke system access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Archive employee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• Close HR records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7 — Roles &amp; Ownership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Outstation Redundancy Program  |  Confidential  | 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960120"/>
            <a:ext cx="685800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960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Area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Owner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1508760"/>
            <a:ext cx="6858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508760"/>
            <a:ext cx="50292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5087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15087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Legal Review &amp; Compliance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618488"/>
            <a:ext cx="1920240" cy="457200"/>
          </a:xfrm>
          <a:prstGeom prst="rect">
            <a:avLst>
              <a:gd name="adj" fmla="val 20000"/>
            </a:avLst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6184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Ahsan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2286000"/>
            <a:ext cx="6858000" cy="685800"/>
          </a:xfrm>
          <a:prstGeom prst="rect">
            <a:avLst/>
          </a:prstGeom>
          <a:solidFill>
            <a:srgbClr val="BDD7EE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2286000"/>
            <a:ext cx="50292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22860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20240" y="22860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EXCOM Approval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2395728"/>
            <a:ext cx="1920240" cy="457200"/>
          </a:xfrm>
          <a:prstGeom prst="rect">
            <a:avLst>
              <a:gd name="adj" fmla="val 20000"/>
            </a:avLst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3957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Kumail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3063240"/>
            <a:ext cx="6858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3063240"/>
            <a:ext cx="50292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30632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920240" y="30632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Employee Notification &amp; Offboarding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3172968"/>
            <a:ext cx="1920240" cy="457200"/>
          </a:xfrm>
          <a:prstGeom prst="rect">
            <a:avLst>
              <a:gd name="adj" fmla="val 20000"/>
            </a:avLst>
          </a:prstGeom>
          <a:solidFill>
            <a:srgbClr val="1F3864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Hiba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71600" y="3840480"/>
            <a:ext cx="6858000" cy="685800"/>
          </a:xfrm>
          <a:prstGeom prst="rect">
            <a:avLst/>
          </a:prstGeom>
          <a:solidFill>
            <a:srgbClr val="BDD7EE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3840480"/>
            <a:ext cx="50292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38404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💼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920240" y="38404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Final Settlements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3950208"/>
            <a:ext cx="1920240" cy="457200"/>
          </a:xfrm>
          <a:prstGeom prst="rect">
            <a:avLst>
              <a:gd name="adj" fmla="val 20000"/>
            </a:avLst>
          </a:prstGeom>
          <a:solidFill>
            <a:srgbClr val="1F3864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39502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Saif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371600" y="4617720"/>
            <a:ext cx="6858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0" y="4617720"/>
            <a:ext cx="50292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6" name="Text 34"/>
          <p:cNvSpPr/>
          <p:nvPr/>
        </p:nvSpPr>
        <p:spPr>
          <a:xfrm>
            <a:off x="1371600" y="46177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920240" y="46177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System &amp; Access Removal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26480" y="4727448"/>
            <a:ext cx="1920240" cy="457200"/>
          </a:xfrm>
          <a:prstGeom prst="rect">
            <a:avLst>
              <a:gd name="adj" fmla="val 20000"/>
            </a:avLst>
          </a:prstGeom>
          <a:solidFill>
            <a:srgbClr val="1F3864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47274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Ridha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8 — Financial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Outstation Redundancy Program  |  Confidential  | 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4937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966"/>
                </a:solidFill>
              </a:rPr>
              <a:t>Monthly Savings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D7EE"/>
                </a:solidFill>
              </a:rPr>
              <a:t>OMR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33,281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DD7EE"/>
                </a:solidFill>
              </a:rPr>
              <a:t>per month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4572000" cy="27432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Starting from execution completion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005840"/>
            <a:ext cx="5303520" cy="4937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188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Aug–Dec 2026 Impact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D7EE"/>
                </a:solidFill>
              </a:rPr>
              <a:t>Total Projected Savings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OMR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25603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966"/>
                </a:solidFill>
              </a:rPr>
              <a:t>166,405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583680" y="3520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(5 months)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3977640"/>
            <a:ext cx="45720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069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Strong contribution to 2026 cost optimization targets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2834640"/>
            <a:ext cx="731520" cy="502920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28346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×5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9 — Risks &amp; Dependencies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Outstation Redundancy Program  |  Confidential  | 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48640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68680"/>
            <a:ext cx="548640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68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🔴  Key Risks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5120640" cy="1005840"/>
          </a:xfrm>
          <a:prstGeom prst="rect">
            <a:avLst/>
          </a:prstGeom>
          <a:solidFill>
            <a:srgbClr val="FDECE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764792"/>
            <a:ext cx="1005840" cy="4114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7647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67335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Lack of formal legal sign-off record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5120640" cy="1005840"/>
          </a:xfrm>
          <a:prstGeom prst="rect">
            <a:avLst/>
          </a:prstGeom>
          <a:solidFill>
            <a:srgbClr val="FFF3E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999232"/>
            <a:ext cx="1005840" cy="41148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9992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90779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Country-specific compliance delays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5120640" cy="1005840"/>
          </a:xfrm>
          <a:prstGeom prst="rect">
            <a:avLst/>
          </a:prstGeom>
          <a:solidFill>
            <a:srgbClr val="FFF3E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4233672"/>
            <a:ext cx="1005840" cy="41148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423367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41422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Regulatory approval timeline overruns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868680"/>
            <a:ext cx="548640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868680"/>
            <a:ext cx="5486400" cy="45720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868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🟡  Dependencies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1508760"/>
            <a:ext cx="5120640" cy="100584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1783080"/>
            <a:ext cx="411480" cy="41148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69480" y="167335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Legal final confirmation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2743200"/>
            <a:ext cx="5120640" cy="100584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0840" y="3017520"/>
            <a:ext cx="411480" cy="41148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290779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EXCOM decision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0" y="3977640"/>
            <a:ext cx="5120640" cy="100584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4251960"/>
            <a:ext cx="411480" cy="41148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69480" y="414223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Local legal execution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10 — Immediate Next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Outstation Redundancy Program  |  Confidential  | 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3749040" cy="5212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1874520" y="1005840"/>
            <a:ext cx="548640" cy="548640"/>
          </a:xfrm>
          <a:prstGeom prst="ellipse">
            <a:avLst/>
          </a:prstGeom>
          <a:solidFill>
            <a:srgbClr val="FFD966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Legal Alignment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3474720" cy="27432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2560320"/>
            <a:ext cx="3474720" cy="777240"/>
          </a:xfrm>
          <a:prstGeom prst="rect">
            <a:avLst/>
          </a:prstGeom>
          <a:solidFill>
            <a:srgbClr val="1A3A5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06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Obtain written confirmation: "Legal review complete"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474720"/>
            <a:ext cx="3474720" cy="777240"/>
          </a:xfrm>
          <a:prstGeom prst="rect">
            <a:avLst/>
          </a:prstGeom>
          <a:solidFill>
            <a:srgbClr val="1A3A5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5204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Confirm "Cleared to proceed" from Dentons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914400"/>
            <a:ext cx="3749040" cy="5212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2160" y="1005840"/>
            <a:ext cx="548640" cy="548640"/>
          </a:xfrm>
          <a:prstGeom prst="ellipse">
            <a:avLst/>
          </a:prstGeom>
          <a:solidFill>
            <a:srgbClr val="FFD966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1645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Governance Closure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89120" y="2423160"/>
            <a:ext cx="3474720" cy="27432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0" y="2560320"/>
            <a:ext cx="3474720" cy="777240"/>
          </a:xfrm>
          <a:prstGeom prst="rect">
            <a:avLst/>
          </a:prstGeom>
          <a:solidFill>
            <a:srgbClr val="1A3A5A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2606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Confirm EXCOM approval status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474720"/>
            <a:ext cx="3474720" cy="777240"/>
          </a:xfrm>
          <a:prstGeom prst="rect">
            <a:avLst/>
          </a:prstGeom>
          <a:solidFill>
            <a:srgbClr val="1A3A5A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35204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Document formal sign-off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914400"/>
            <a:ext cx="3749040" cy="521208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1005840"/>
            <a:ext cx="548640" cy="548640"/>
          </a:xfrm>
          <a:prstGeom prst="ellipse">
            <a:avLst/>
          </a:prstGeom>
          <a:solidFill>
            <a:srgbClr val="FFD966"/>
          </a:solidFill>
          <a:ln/>
        </p:spPr>
      </p:sp>
      <p:sp>
        <p:nvSpPr>
          <p:cNvPr id="27" name="Text 25"/>
          <p:cNvSpPr/>
          <p:nvPr/>
        </p:nvSpPr>
        <p:spPr>
          <a:xfrm>
            <a:off x="982980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21040" y="1645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Execution Readiness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366760" y="2423160"/>
            <a:ext cx="3474720" cy="27432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2560320"/>
            <a:ext cx="3474720" cy="777240"/>
          </a:xfrm>
          <a:prstGeom prst="rect">
            <a:avLst/>
          </a:prstGeom>
          <a:solidFill>
            <a:srgbClr val="1A3A5A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2606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Prepare legal documentation by country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66760" y="3474720"/>
            <a:ext cx="3474720" cy="777240"/>
          </a:xfrm>
          <a:prstGeom prst="rect">
            <a:avLst/>
          </a:prstGeom>
          <a:solidFill>
            <a:srgbClr val="1A3A5A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35204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Prepare notification materials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66760" y="4389120"/>
            <a:ext cx="3474720" cy="777240"/>
          </a:xfrm>
          <a:prstGeom prst="rect">
            <a:avLst/>
          </a:prstGeom>
          <a:solidFill>
            <a:srgbClr val="1A3A5A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0" y="44348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Prepare HR case handling procedures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Message to Leadership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solidFill>
            <a:srgbClr val="253B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Project initiated Oct 2025 with Dentons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Structured into formal execution plan Apr–Jul 2026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822960"/>
          </a:xfrm>
          <a:prstGeom prst="rect">
            <a:avLst/>
          </a:prstGeom>
          <a:solidFill>
            <a:srgbClr val="253B5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Currently at transition point into execution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124712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1148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Final legal clearance confirmation is being aligned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2120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</a:rPr>
              <a:t>Once confirmed → Immediate execution can proceed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Outstation Redundancy Program  |  Confidential  |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2026-05-06T04:55:35Z</dcterms:created>
  <dcterms:modified xsi:type="dcterms:W3CDTF">2026-05-06T04:55:35Z</dcterms:modified>
</cp:coreProperties>
</file>